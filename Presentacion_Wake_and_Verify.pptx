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280160"/>
            <a:ext cx="5029200" cy="5029200"/>
          </a:xfrm>
          <a:prstGeom prst="ellipse">
            <a:avLst/>
          </a:prstGeom>
          <a:solidFill>
            <a:srgbClr val="262E4A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2926080" cy="2926080"/>
          </a:xfrm>
          <a:prstGeom prst="ellipse">
            <a:avLst/>
          </a:prstGeom>
          <a:solidFill>
            <a:srgbClr val="F2603C"/>
          </a:solidFill>
          <a:ln/>
        </p:spPr>
      </p:sp>
      <p:sp>
        <p:nvSpPr>
          <p:cNvPr id="4" name="Shape 2"/>
          <p:cNvSpPr/>
          <p:nvPr/>
        </p:nvSpPr>
        <p:spPr>
          <a:xfrm>
            <a:off x="10835640" y="4800600"/>
            <a:ext cx="1737360" cy="1737360"/>
          </a:xfrm>
          <a:prstGeom prst="ellipse">
            <a:avLst/>
          </a:prstGeom>
          <a:solidFill>
            <a:srgbClr val="1B213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0" y="525780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8288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FB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&amp; VERIFY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2331720"/>
            <a:ext cx="8778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Alarma Inteligente con Verificación Visual de Objetos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640080" y="37947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de visión por computador (YOLOv11) que obliga a levantarse de la cama y fotografiar un objeto real de la casa antes de apagar la alarma.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58368" y="4892040"/>
            <a:ext cx="1097280" cy="0"/>
          </a:xfrm>
          <a:prstGeom prst="line">
            <a:avLst/>
          </a:prstGeom>
          <a:noFill/>
          <a:ln w="31750">
            <a:solidFill>
              <a:srgbClr val="F2603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5029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 Isabel Posada Niasa   ·   Lina Robsana Jamioy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5394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Nacional de Colombia  ·  Procesamiento Digital de Imágenes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3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Contexto del problema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las alarmas tradicionales fallan en cumplir su propósito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035040" cy="4754880"/>
          </a:xfrm>
          <a:prstGeom prst="roundRect">
            <a:avLst>
              <a:gd name="adj" fmla="val 2308"/>
            </a:avLst>
          </a:prstGeom>
          <a:solidFill>
            <a:srgbClr val="EDEFF5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830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81051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13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 problema real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14400" y="246888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alarmas sonoras dependen de un solo gesto,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tocar "posponer"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que no exige ningún esfuerzo cognitivo ni físico real.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333756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produce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snoozing crónico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retrasos acumulados y un impacto directo en la productividad y la salud del sueño.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42062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apps anti-snooze existentes (códigos QR fijos, cálculos matemáticos) son fáciles de memorizar o </a:t>
            </a:r>
            <a:pPr indent="0" marL="0">
              <a:buNone/>
            </a:pPr>
            <a:r>
              <a:rPr lang="en-US" sz="130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automatizar</a:t>
            </a:r>
            <a:pPr indent="0" marL="0">
              <a:buNone/>
            </a:pPr>
            <a:r>
              <a:rPr lang="en-US" sz="13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 levantarse de verdad.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14400" y="5349240"/>
            <a:ext cx="5394960" cy="0"/>
          </a:xfrm>
          <a:prstGeom prst="line">
            <a:avLst/>
          </a:prstGeom>
          <a:noFill/>
          <a:ln w="12700">
            <a:solidFill>
              <a:srgbClr val="D8DC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548640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2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 solución exige evidencia visual real, capturada en vivo, de un objeto físico distinto cada vez.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812280" y="1508760"/>
            <a:ext cx="4800600" cy="4754880"/>
          </a:xfrm>
          <a:prstGeom prst="roundRect">
            <a:avLst>
              <a:gd name="adj" fmla="val 2308"/>
            </a:avLst>
          </a:prstGeom>
          <a:solidFill>
            <a:srgbClr val="1B2138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810512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772400" y="1828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Tarea de inferencia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7178040" y="2606040"/>
            <a:ext cx="4160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B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objetos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(Object Detection), no clasificación simple: se requiere localizar y reconocer un objeto específico dentro de una escena doméstica real, con fondo, oclusión e iluminación variables.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178040" y="4160520"/>
            <a:ext cx="4160520" cy="0"/>
          </a:xfrm>
          <a:prstGeom prst="line">
            <a:avLst/>
          </a:prstGeom>
          <a:noFill/>
          <a:ln w="12700">
            <a:solidFill>
              <a:srgbClr val="39406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178040" y="4343400"/>
            <a:ext cx="292608" cy="292608"/>
          </a:xfrm>
          <a:prstGeom prst="ellipse">
            <a:avLst/>
          </a:prstGeom>
          <a:solidFill>
            <a:srgbClr val="F2603C"/>
          </a:solidFill>
          <a:ln/>
        </p:spPr>
      </p:sp>
      <p:sp>
        <p:nvSpPr>
          <p:cNvPr id="18" name="Text 14"/>
          <p:cNvSpPr/>
          <p:nvPr/>
        </p:nvSpPr>
        <p:spPr>
          <a:xfrm>
            <a:off x="7178040" y="4343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589520" y="429768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Suena la alarma a la hora programada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7178040" y="4764024"/>
            <a:ext cx="292608" cy="292608"/>
          </a:xfrm>
          <a:prstGeom prst="ellipse">
            <a:avLst/>
          </a:prstGeom>
          <a:solidFill>
            <a:srgbClr val="F2603C"/>
          </a:solidFill>
          <a:ln/>
        </p:spPr>
      </p:sp>
      <p:sp>
        <p:nvSpPr>
          <p:cNvPr id="21" name="Text 17"/>
          <p:cNvSpPr/>
          <p:nvPr/>
        </p:nvSpPr>
        <p:spPr>
          <a:xfrm>
            <a:off x="7178040" y="47640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589520" y="4718304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asigna un objeto objetivo (de 8 macro-clases)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7178040" y="5184648"/>
            <a:ext cx="292608" cy="292608"/>
          </a:xfrm>
          <a:prstGeom prst="ellipse">
            <a:avLst/>
          </a:prstGeom>
          <a:solidFill>
            <a:srgbClr val="F2603C"/>
          </a:solidFill>
          <a:ln/>
        </p:spPr>
      </p:sp>
      <p:sp>
        <p:nvSpPr>
          <p:cNvPr id="24" name="Text 20"/>
          <p:cNvSpPr/>
          <p:nvPr/>
        </p:nvSpPr>
        <p:spPr>
          <a:xfrm>
            <a:off x="7178040" y="5184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7589520" y="513892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fotografía el objeto en vivo con la cámara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7178040" y="5605272"/>
            <a:ext cx="292608" cy="292608"/>
          </a:xfrm>
          <a:prstGeom prst="ellipse">
            <a:avLst/>
          </a:prstGeom>
          <a:solidFill>
            <a:srgbClr val="F2603C"/>
          </a:solidFill>
          <a:ln/>
        </p:spPr>
      </p:sp>
      <p:sp>
        <p:nvSpPr>
          <p:cNvPr id="27" name="Text 23"/>
          <p:cNvSpPr/>
          <p:nvPr/>
        </p:nvSpPr>
        <p:spPr>
          <a:xfrm>
            <a:off x="7178040" y="5605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7589520" y="555955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 confirma la clase con confianza &gt; τ → apaga la alarma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3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Base de datos e ingeniería de taxonomía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"household-uhdlf" (Roboflow) · de 20 clases fragmentadas a 8 macro-clases funcionales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246120" cy="1188720"/>
          </a:xfrm>
          <a:prstGeom prst="roundRect">
            <a:avLst>
              <a:gd name="adj" fmla="val 7692"/>
            </a:avLst>
          </a:prstGeom>
          <a:solidFill>
            <a:srgbClr val="EDEFF5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72768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60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20 → 8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217627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originales reducidas a macro-clases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069080" y="1508760"/>
            <a:ext cx="3246120" cy="1188720"/>
          </a:xfrm>
          <a:prstGeom prst="roundRect">
            <a:avLst>
              <a:gd name="adj" fmla="val 7692"/>
            </a:avLst>
          </a:prstGeom>
          <a:solidFill>
            <a:srgbClr val="EDEFF5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51960" y="1572768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60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139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251960" y="217627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en el set de validación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589520" y="1508760"/>
            <a:ext cx="3246120" cy="1188720"/>
          </a:xfrm>
          <a:prstGeom prst="roundRect">
            <a:avLst>
              <a:gd name="adj" fmla="val 7692"/>
            </a:avLst>
          </a:prstGeom>
          <a:solidFill>
            <a:srgbClr val="EDEFF5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0" y="1572768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60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290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772400" y="217627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Instancias anotadas evaluadas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971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13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Mapeo de las 8 macro-clases de destino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83280"/>
          <a:ext cx="69494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754880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Macro-clase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Clases originales agrupadas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38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dishes_utensils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cup, bowl, spoon, fork, kettle, teapot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sharp_objects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knife, scissor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appliances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oven, microwave, rice-cooker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phone, remote-control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security_access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bottle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clocks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home_comfort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Air-conditioner, fridge, hairdryer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7818120" y="2971800"/>
            <a:ext cx="3794760" cy="3291840"/>
          </a:xfrm>
          <a:prstGeom prst="roundRect">
            <a:avLst>
              <a:gd name="adj" fmla="val 3333"/>
            </a:avLst>
          </a:prstGeom>
          <a:solidFill>
            <a:srgbClr val="1B2138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324612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686800" y="32644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¿Por qué agrupar?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8138160" y="388620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geométricamente similares (taza/plato/cuchara) fragmentaban el gradiente y reducían las muestras por categoría.</a:t>
            </a:r>
            <a:endParaRPr lang="en-US" sz="11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Agrupar en 8 macro-clases aumenta la densidad de muestras por clase y estabiliza la varianza durante el entrenamiento.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13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Argumentación técnica: arquitectura y pérdida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YOLOv11m como detector de objetos en tiempo real para escenas domésticas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2331720"/>
          </a:xfrm>
          <a:prstGeom prst="roundRect">
            <a:avLst>
              <a:gd name="adj" fmla="val 4706"/>
            </a:avLst>
          </a:prstGeom>
          <a:solidFill>
            <a:srgbClr val="EDEFF5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91640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7099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13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¿Por qué YOLOv11m?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2194560"/>
            <a:ext cx="4846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de una sola pasada (single-stage): permite inferencia en vivo desde la cámara, requisito clave del flujo de "foto al despertar".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 "medium" (20M parámetros): balance entre precisión y velocidad de inferencia en CPU para Hugging Face Spaces.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desde pesos preentrenados (yolo11m.pt) sobre las 8 macro-clases balanceadas.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172200" y="1463040"/>
            <a:ext cx="5440680" cy="2331720"/>
          </a:xfrm>
          <a:prstGeom prst="roundRect">
            <a:avLst>
              <a:gd name="adj" fmla="val 4706"/>
            </a:avLst>
          </a:prstGeom>
          <a:solidFill>
            <a:srgbClr val="1B2138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92240" y="1645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Función de pérdida compuesta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92240" y="21031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 = λbox·Lossbox + λcls·Losscls + λdfl·Lossdfl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92240" y="26060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B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(CIoU):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 posición, escala y aspecto de las cajas predichas.</a:t>
            </a:r>
            <a:endParaRPr lang="en-US" sz="105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B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(BCE):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 cada ancla a una de las 8 macro-clases.</a:t>
            </a:r>
            <a:endParaRPr lang="en-US" sz="1050" dirty="0"/>
          </a:p>
          <a:p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B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DFL: </a:t>
            </a:r>
            <a:pPr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 los bordes como distribuciones continuas, clave para objetos pequeños/ocluidos (llaves, cubiertos).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3977640"/>
            <a:ext cx="11064240" cy="2286000"/>
          </a:xfrm>
          <a:prstGeom prst="roundRect">
            <a:avLst>
              <a:gd name="adj" fmla="val 4800"/>
            </a:avLst>
          </a:prstGeom>
          <a:solidFill>
            <a:srgbClr val="EDEFF5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206240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17320" y="42245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13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Métricas elegidas y por qué importan para esta tarea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914400" y="47091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(P)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914400" y="502920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detecciones positivas que son correctas. Evita falsas activaciones del 'apagado'.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611880" y="47091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(R)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3611880" y="502920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objetos reales detectados. Crítico para que el usuario no quede atrapado sin poder apagar la alarma.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309360" y="47091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6309360" y="502920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 promedio con IoU≥0.5. Métrica estándar de detección, tolerante a cajas imperfectas.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9006840" y="47091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mAP50-95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9006840" y="502920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en IoU 0.5–0.95. Exige localización más estricta de los objetos pequeños.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3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Resultados de validación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oficial sobre el split de validación (139 imágenes, 290 instancias)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1B2138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53619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57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0.716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37560" y="146304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1B2138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53619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57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0.689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337560" y="21031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146304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1B2138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53619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57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0.641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126480" y="21031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mAP@50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15400" y="146304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1B2138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15400" y="153619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57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0.505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915400" y="21031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mAP@50-95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13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Desempeño por macro-clase (modelo best.pt)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46120"/>
          <a:ext cx="68580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"/>
                <a:gridCol w="640080"/>
                <a:gridCol w="777240"/>
                <a:gridCol w="777240"/>
                <a:gridCol w="914400"/>
                <a:gridCol w="12801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mAP50-95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3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security_access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dishes_utensils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appliances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clocks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home_comfort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sharp_objects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7726680" y="2834640"/>
            <a:ext cx="3886200" cy="3520440"/>
          </a:xfrm>
          <a:prstGeom prst="roundRect">
            <a:avLst>
              <a:gd name="adj" fmla="val 3117"/>
            </a:avLst>
          </a:prstGeom>
          <a:solidFill>
            <a:srgbClr val="EDEFF5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3063240"/>
            <a:ext cx="411480" cy="41148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595360" y="30815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13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Lectura de resultados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8092440" y="3611880"/>
            <a:ext cx="33832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y security_access lideran (mAP50 &gt; 0.86 y recall alto): objetos rígidos y de forma consistente.</a:t>
            </a:r>
            <a:endParaRPr lang="en-US" sz="105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sharp_objects y home_comfort presentan el recall más bajo: clases con menos instancias y mayor variabilidad visual.</a:t>
            </a:r>
            <a:endParaRPr lang="en-US" sz="105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recall global (0.689) es la métrica crítica del producto: garantiza que el usuario casi siempre puede apagar la alarma con el objeto correcto.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13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Progresión del entrenamiento (30 épocas)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Curvas extraídas de results.png — Ultralytics YOLOv11m, entrenamiento y validación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583680" cy="4846320"/>
          </a:xfrm>
          <a:prstGeom prst="roundRect">
            <a:avLst>
              <a:gd name="adj" fmla="val 2264"/>
            </a:avLst>
          </a:prstGeom>
          <a:solidFill>
            <a:srgbClr val="EDEFF5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002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13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Disminución de la función de pérdida</a:t>
            </a:r>
            <a:endParaRPr lang="en-US" sz="1400" dirty="0"/>
          </a:p>
        </p:txBody>
      </p:sp>
      <p:pic>
        <p:nvPicPr>
          <p:cNvPr id="6" name="Image 0" descr="/home/claude/assets/loss_curv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2057400"/>
            <a:ext cx="5943600" cy="40416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0" y="1417320"/>
            <a:ext cx="4297680" cy="4846320"/>
          </a:xfrm>
          <a:prstGeom prst="roundRect">
            <a:avLst>
              <a:gd name="adj" fmla="val 2553"/>
            </a:avLst>
          </a:prstGeom>
          <a:solidFill>
            <a:srgbClr val="1B2138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589520" y="16002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Progreso de las métricas</a:t>
            </a:r>
            <a:endParaRPr lang="en-US" sz="1400" dirty="0"/>
          </a:p>
        </p:txBody>
      </p:sp>
      <p:pic>
        <p:nvPicPr>
          <p:cNvPr id="9" name="Image 1" descr="/home/claude/assets/metric_curve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543800" y="2057400"/>
            <a:ext cx="3840480" cy="40416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Lógica de la aplicación: el reto matutino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B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"token de desactivación fijo" a un reto fotográfico activo contra el snooze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377440" cy="2926080"/>
          </a:xfrm>
          <a:prstGeom prst="roundRect">
            <a:avLst>
              <a:gd name="adj" fmla="val 4615"/>
            </a:avLst>
          </a:prstGeom>
          <a:solidFill>
            <a:srgbClr val="262E4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1828800"/>
            <a:ext cx="777240" cy="777240"/>
          </a:xfrm>
          <a:prstGeom prst="ellipse">
            <a:avLst/>
          </a:prstGeom>
          <a:solidFill>
            <a:srgbClr val="F2603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0116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51460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B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2788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Suena la alarma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68680" y="329184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 hora programada por el usuario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063240" y="3017520"/>
            <a:ext cx="274320" cy="0"/>
          </a:xfrm>
          <a:prstGeom prst="line">
            <a:avLst/>
          </a:prstGeom>
          <a:noFill/>
          <a:ln w="25400">
            <a:solidFill>
              <a:srgbClr val="FFB57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46120" y="1554480"/>
            <a:ext cx="2377440" cy="2926080"/>
          </a:xfrm>
          <a:prstGeom prst="roundRect">
            <a:avLst>
              <a:gd name="adj" fmla="val 4615"/>
            </a:avLst>
          </a:prstGeom>
          <a:solidFill>
            <a:srgbClr val="262E4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0" y="1828800"/>
            <a:ext cx="777240" cy="777240"/>
          </a:xfrm>
          <a:prstGeom prst="ellipse">
            <a:avLst/>
          </a:prstGeom>
          <a:solidFill>
            <a:srgbClr val="F2603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201168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2064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B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474720" y="2788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Asigna un objeto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3474720" y="329184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elige una de las 8 macro-clases (rotativa o fija)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669280" y="3017520"/>
            <a:ext cx="274320" cy="0"/>
          </a:xfrm>
          <a:prstGeom prst="line">
            <a:avLst/>
          </a:prstGeom>
          <a:noFill/>
          <a:ln w="25400">
            <a:solidFill>
              <a:srgbClr val="FFB57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852160" y="1554480"/>
            <a:ext cx="2377440" cy="2926080"/>
          </a:xfrm>
          <a:prstGeom prst="roundRect">
            <a:avLst>
              <a:gd name="adj" fmla="val 4615"/>
            </a:avLst>
          </a:prstGeom>
          <a:solidFill>
            <a:srgbClr val="262E4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63640" y="1828800"/>
            <a:ext cx="777240" cy="777240"/>
          </a:xfrm>
          <a:prstGeom prst="ellipse">
            <a:avLst/>
          </a:prstGeom>
          <a:solidFill>
            <a:srgbClr val="F2603C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01168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72668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B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080760" y="2788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Captura en vivo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6080760" y="329184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fotografía el objeto con la cámara del dispositivo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8275320" y="3017520"/>
            <a:ext cx="274320" cy="0"/>
          </a:xfrm>
          <a:prstGeom prst="line">
            <a:avLst/>
          </a:prstGeom>
          <a:noFill/>
          <a:ln w="25400">
            <a:solidFill>
              <a:srgbClr val="FFB570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458200" y="1554480"/>
            <a:ext cx="2377440" cy="2926080"/>
          </a:xfrm>
          <a:prstGeom prst="roundRect">
            <a:avLst>
              <a:gd name="adj" fmla="val 4615"/>
            </a:avLst>
          </a:prstGeom>
          <a:solidFill>
            <a:srgbClr val="262E4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869680" y="1828800"/>
            <a:ext cx="777240" cy="777240"/>
          </a:xfrm>
          <a:prstGeom prst="ellipse">
            <a:avLst/>
          </a:prstGeom>
          <a:solidFill>
            <a:srgbClr val="F2603C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2011680"/>
            <a:ext cx="411480" cy="41148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33272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B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8686800" y="2788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YOLOv11 verifica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8686800" y="329184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conf &gt; τ=0.375 para la clase pedida → alarma apagada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548640" y="4709160"/>
            <a:ext cx="110642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</p:spPr>
      </p:sp>
      <p:sp>
        <p:nvSpPr>
          <p:cNvPr id="32" name="Text 26"/>
          <p:cNvSpPr/>
          <p:nvPr/>
        </p:nvSpPr>
        <p:spPr>
          <a:xfrm>
            <a:off x="868680" y="4864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13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Decisiones de diseño clave</a:t>
            </a:r>
            <a:endParaRPr lang="en-US" sz="1350" dirty="0"/>
          </a:p>
        </p:txBody>
      </p:sp>
      <p:sp>
        <p:nvSpPr>
          <p:cNvPr id="33" name="Text 27"/>
          <p:cNvSpPr/>
          <p:nvPr/>
        </p:nvSpPr>
        <p:spPr>
          <a:xfrm>
            <a:off x="868680" y="5193792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obligatoria por cámara en vivo (no carga de archivos), para impedir reutilizar una foto antigua y forzar el desplazamiento físico.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sharp_objects se excluye como reto válido por seguridad: no se incentiva manipular cuchillos medio dormido.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umbral de confianza τ=0.375 corresponde al punto de equilibrio óptimo P/R observado en la curva F1-Confidence.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13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Despliegue en la nube: Hugging Face Spaces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Google Colab a una interfaz interactiva en producción con Gradio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EDEFF5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6420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60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Entrenamiento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+ GPU T4. YOLOv11m, 30 épocas, Ultralytics 8.4.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953512" y="21488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478"/>
                </a:solidFill>
              </a:rPr>
              <a:t>&gt;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46120" y="150876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1B2138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166420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B57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Exportación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429000" y="205740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best.pt → TorchScript (dynamic=True) para inferencia portable.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50992" y="21488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478"/>
                </a:solidFill>
              </a:rPr>
              <a:t>&gt;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0" y="150876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EDEFF5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66420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60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Empaquetado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126480" y="205740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 fija ultralytics, gradio, torch/torchvision.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348472" y="21488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478"/>
                </a:solidFill>
              </a:rPr>
              <a:t>&gt;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641080" y="150876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1B2138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823960" y="166420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B57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Producción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823960" y="205740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en Hugging Face Spaces sirve la interfaz Gradio 24/7.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520440"/>
            <a:ext cx="6675120" cy="2834640"/>
          </a:xfrm>
          <a:prstGeom prst="roundRect">
            <a:avLst>
              <a:gd name="adj" fmla="val 3871"/>
            </a:avLst>
          </a:prstGeom>
          <a:solidFill>
            <a:srgbClr val="EDEFF5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749040"/>
            <a:ext cx="411480" cy="41148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417320" y="37673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13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Interfaz Gradio (app.py)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914400" y="4251960"/>
            <a:ext cx="60350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Entrada: cámara web en vivo o carga de imagen (gr.Image).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Sliders de umbral de confianza e IoU, ajustables para la prueba en caliente del jurado.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Salida: imagen anotada con cajas, reporte textual de objetos y estado del relevador de alarma (ACTIVADA/DESACTIVADA).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406640" y="3520440"/>
            <a:ext cx="4206240" cy="2834640"/>
          </a:xfrm>
          <a:prstGeom prst="roundRect">
            <a:avLst>
              <a:gd name="adj" fmla="val 3871"/>
            </a:avLst>
          </a:prstGeom>
          <a:solidFill>
            <a:srgbClr val="1B2138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3749040"/>
            <a:ext cx="411480" cy="41148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8229600" y="37673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Entregables del repositorio</a:t>
            </a:r>
            <a:endParaRPr lang="en-US" sz="1350" dirty="0"/>
          </a:p>
        </p:txBody>
      </p:sp>
      <p:sp>
        <p:nvSpPr>
          <p:cNvPr id="26" name="Text 22"/>
          <p:cNvSpPr/>
          <p:nvPr/>
        </p:nvSpPr>
        <p:spPr>
          <a:xfrm>
            <a:off x="7726680" y="425196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fuente completo de entrenamiento (notebook).</a:t>
            </a:r>
            <a:endParaRPr lang="en-US" sz="10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y despliegue del Space (app.py, requirements.txt).</a:t>
            </a:r>
            <a:endParaRPr lang="en-US" sz="10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 con la base de datos utilizada (Roboflow household-uhdlf v1).</a:t>
            </a:r>
            <a:endParaRPr lang="en-US" sz="10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de exportación del modelo.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4206240"/>
            <a:ext cx="3657600" cy="3657600"/>
          </a:xfrm>
          <a:prstGeom prst="ellipse">
            <a:avLst/>
          </a:prstGeom>
          <a:solidFill>
            <a:srgbClr val="262E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Conclusiones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1234440"/>
            <a:ext cx="1097280" cy="0"/>
          </a:xfrm>
          <a:prstGeom prst="line">
            <a:avLst/>
          </a:prstGeom>
          <a:noFill/>
          <a:ln w="31750">
            <a:solidFill>
              <a:srgbClr val="F260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79552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reenfoque del producto, de "alarma de seguridad" a "alarma anti-snooze con verificación visual", reutiliza el mismo pipeline de detección sin perder la rigurosidad técnica del balanceo taxonómico.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YOLOv11m alcanza un mAP@50 de 0.641 y un recall global de 0.689, suficiente para un flujo donde el usuario puede reintentar la captura.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clases con más muestras balanceadas (dishes_utensils, containers, electronics) son las más confiables como reto matutino; sharp_objects y home_comfort requieren más datos.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ED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despliegue en Hugging Face Spaces con Gradio demuestra el ciclo completo: de un notebook experimental a una herramienta interactiva accesible desde cualquier navegador.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566928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B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paso pendiente: documentar la exportación con ExecuTorch (actualmente TorchScript) para cumplir el lineamiento de despliegue solicitado.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48640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Wake &amp; Verify - Alarma Inteligente con Verificación Visual</dc:title>
  <dc:subject>PptxGenJS Presentation</dc:subject>
  <dc:creator>Maria Isabel Posada Niasa, Lina Robsana Jamioy</dc:creator>
  <cp:lastModifiedBy>Maria Isabel Posada Niasa, Lina Robsana Jamioy</cp:lastModifiedBy>
  <cp:revision>1</cp:revision>
  <dcterms:created xsi:type="dcterms:W3CDTF">2026-06-19T04:09:54Z</dcterms:created>
  <dcterms:modified xsi:type="dcterms:W3CDTF">2026-06-19T04:09:54Z</dcterms:modified>
</cp:coreProperties>
</file>